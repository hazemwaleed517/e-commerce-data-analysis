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تحليل بيانات التجارة الإلكترونية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BED7DC"/>
                </a:solidFill>
                <a:latin typeface="Arial"/>
              </a:rPr>
              <a:t>Olist E-Commerce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966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Arial"/>
              </a:rPr>
              <a:t>من البيانات الخام إلى Data Model وDashboard وقرارات قابلة للتنفيذ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794760"/>
            <a:ext cx="9966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BEC8D2"/>
                </a:solidFill>
                <a:latin typeface="Arial"/>
              </a:rPr>
              <a:t>Power Query • Data Model • DAX • Pivot Tables • Dashboards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1. تعريف سريع بـ Olist والـDataset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المشروع يعتمد على بيانات Olist البرازيلية للتجارة الإلكترونية.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البيانات موزعة على 9 جداول: Orders, Customers, Items, Payments, Reviews, Products, Sellers, Geolocation وCategory Translation.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تم استخدام Power Query للتنظيف، Data Model للعلاقات، DAX للمؤشرات، وPivot Tables والـDashboards للعرض.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الهدف هو فهم المبيعات والعملاء والدفع والتقييمات والتسليم من خلال نموذج واحد.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532120"/>
            <a:ext cx="2468880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5532120"/>
            <a:ext cx="73152" cy="77724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64184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المصادر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61888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 جداول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5532120"/>
            <a:ext cx="2468880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5532120"/>
            <a:ext cx="73152" cy="77724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564184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التحضير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961888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Power Query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532120"/>
            <a:ext cx="2468880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5532120"/>
            <a:ext cx="73152" cy="77724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564184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التحليل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961888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Data Model + DAX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59" y="5532120"/>
            <a:ext cx="2468880" cy="7772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2559" y="5532120"/>
            <a:ext cx="73152" cy="77724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39" y="5641848"/>
            <a:ext cx="2194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العرض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39" y="5961888"/>
            <a:ext cx="2194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2. المشكلة التي نحاول حلها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البيانات موزعة على جداول متعددة، لذلك لا يمكن قراءة الأداء الكلي بسهولة بدون Data Model.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وجود مشكلات في الأنواع والتواريخ وبعض القيم النصية والقيم غير الصالحة.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order_status وحده لا يكفي لقياس جودة التسليم؛ يجب مقارنة تاريخ التسليم بالموعد المتوقع.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نحتاج إلى KPIs ديناميكية تتغير مع الـSlicers والفلاتر.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الهدف النهائي: اكتشاف مشاكل الـBusiness وتحويلها إلى قرارات قابلة للمتابعة.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200" b="1">
                <a:solidFill>
                  <a:srgbClr val="DBA137"/>
                </a:solidFill>
                <a:latin typeface="Arial"/>
              </a:rPr>
              <a:t>السؤال الرئيسي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532120"/>
            <a:ext cx="8686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182B42"/>
                </a:solidFill>
                <a:latin typeface="Arial"/>
              </a:rPr>
              <a:t>أين توجد فرص التحسين في المبيعات والتسليم وتجربة العميل؟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3. ماذا أضافت مرحلة التنظيف؟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237744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توحيد الأنواع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18488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188720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IDs، Date/Time، والقيم الرقمية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30552"/>
            <a:ext cx="237744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30552"/>
            <a:ext cx="73152" cy="713232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40280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تصحيح القيم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60320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30552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توحيد المدن وتصحيح قيم غير منطقية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072384"/>
            <a:ext cx="237744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072384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82112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معالجة Null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502152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072384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الحفاظ على Null عندما يكون ذا معنى تحليلي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14215"/>
            <a:ext cx="237744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4014215"/>
            <a:ext cx="73152" cy="713232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239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تنظيف النصوص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43983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014215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Trim / Clean لحقول المراجعات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956048"/>
            <a:ext cx="237744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956048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65776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أعمدة تحليلية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385816"/>
            <a:ext cx="2103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956048"/>
            <a:ext cx="80467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Delivery Status، On Time vs Late، Delivery Days، Days Late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4.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617720" y="2148840"/>
            <a:ext cx="2926080" cy="100584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7720" y="2148840"/>
            <a:ext cx="73152" cy="100584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225856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المحور الرئيسي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257860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8872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29844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161848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customer_id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4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4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94436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26440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order_id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8056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48056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59028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Payments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91032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order_id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18872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18872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29844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161848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product_id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283464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283464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59" y="294436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Sellers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59" y="326440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seller_id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41080" y="4480560"/>
            <a:ext cx="265176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41080" y="4480560"/>
            <a:ext cx="73152" cy="9144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59" y="4590288"/>
            <a:ext cx="23774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59" y="4910328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order_id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562356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82B42"/>
                </a:solidFill>
                <a:latin typeface="Arial"/>
              </a:rPr>
              <a:t>العلاقات الأساسية: Customers → Orders → Items → Products / Sellers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5. أهم الـKPIs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إجمالي الطلبات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556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99,441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258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325880"/>
            <a:ext cx="73152" cy="150876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435607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العملاء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7556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96,096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73152" cy="150876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35607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إجمالي المبيعات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556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13,589,414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3258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1325880"/>
            <a:ext cx="73152" cy="150876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35607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الإيرادات + الشحن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7556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15,841,323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3832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83280"/>
            <a:ext cx="73152" cy="150876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3493008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Delivered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38130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96,478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3832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383280"/>
            <a:ext cx="73152" cy="150876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493008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Delivery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130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97.02%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3832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383280"/>
            <a:ext cx="73152" cy="150876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493008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On Time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8130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91.89%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383280"/>
            <a:ext cx="2514600" cy="150876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3383280"/>
            <a:ext cx="73152" cy="150876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493008"/>
            <a:ext cx="2240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متوسط التقييم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81304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4.09/5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6. أهم النتائج: المبيعات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926080" cy="11430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73152" cy="11430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2017 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6.16M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280160"/>
            <a:ext cx="2926080" cy="11430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280160"/>
            <a:ext cx="73152" cy="114300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080" y="13898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2018 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17099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7.38M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280160"/>
            <a:ext cx="2926080" cy="11430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1280160"/>
            <a:ext cx="73152" cy="11430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389888"/>
            <a:ext cx="2651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النمو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709928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19.97%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06984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المبيعات ارتفعت من نحو 6.16 مليون في 2017 إلى نحو 7.38 مليون في 2018.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المقارنة السنوية تحتاج حذرًا لأن التغطية الزمنية ليست متساوية تمامًا بين السنوات.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أعلى شهر في Total Sales كان مايو ≈ 1.503 مليون، يليه أغسطس ≈ 1.429 مليون ثم يوليو ≈ 1.394 مليون.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هذا يوضح أهمية التحليل الشهري بجانب إجمالي السنة.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7. Business Issue: التسليم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560320" cy="13258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73152" cy="1325880"/>
          </a:xfrm>
          <a:prstGeom prst="rect">
            <a:avLst/>
          </a:prstGeom>
          <a:solidFill>
            <a:srgbClr val="318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8988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Delivered 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96,478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13258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80160"/>
            <a:ext cx="73152" cy="132588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38988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Delivery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09928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97.02%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2560320" cy="13258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73152" cy="132588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8988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On Time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09928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88,649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280160"/>
            <a:ext cx="2560320" cy="132588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280160"/>
            <a:ext cx="73152" cy="132588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389888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On Time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709928"/>
            <a:ext cx="2286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91.89%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06324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نجاح التسليم مرتفع، لكن الالتزام بالموعد أقل من معدل التسليم.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هناك فرق مهم بين: هل تم التسليم؟ وهل تم التسليم في الموعد المتوقع؟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يجب تحليل Days Late حسب الشهر والولاية والبائع والفئة لتحديد مصدر التأخير.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8. نتائج إضافية: العملاء والدفع والجغرافيا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32004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73152" cy="118872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89888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Average Review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0992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4.09 /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2004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73152" cy="118872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389888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Positive Review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0992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77.14%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280160"/>
            <a:ext cx="3200400" cy="118872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18120" y="1280160"/>
            <a:ext cx="73152" cy="118872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389888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Credit Card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709928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≈ 12.54M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São Paulo هي أكبر ولاية في Total Sales بحوالي 5.20 مليون، ثم Rio de Janeiro ≈ 1.82 مليون، ثم Minas Gerais ≈ 1.59 مليون.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Credit Card هي وسيلة الدفع الأكبر في Pivot Payments.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متوسط التقييم مرتفع نسبيًا، لكن التقييمات السلبية تحتاج الربط مع التأخير والبائع والمنتج.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9. تفسير ما حدث في 2018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200" b="1">
                <a:solidFill>
                  <a:srgbClr val="182B42"/>
                </a:solidFill>
                <a:latin typeface="Arial"/>
              </a:rPr>
              <a:t>السياق الخارجي: إضراب سائقي الشاحنات في البرازيل – مايو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IBGE أفادت بانخفاض الإنتاج الصناعي 10.9% من أبريل إلى مايو 2018.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الإضراب أثّر على الإمداد واللوجستيات والنقل، وفق البيانات الرسمية.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سجلت قطاعات النقل والخدمات وتجارة التجزئة تراجعات في مايو.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هذا السياق يساعد في تفسير الضغط اللوجستي المحتمل، لكنه لا يثبت أن الإضراب سبب كل تغير في بيانات Olist.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69737D"/>
                </a:solidFill>
                <a:latin typeface="Arial"/>
              </a:rPr>
              <a:t>المصدر: IBGE – البيانات الرسمية للصناعة والخدمات وتجارة التجزئة في 2018.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10. شرح الـDashboard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73152" cy="786384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52728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Executive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73152" cy="786384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76856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596896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Order Status &amp; Delivery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91256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91256"/>
            <a:ext cx="73152" cy="786384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300984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621024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Sales &amp;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215384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215384"/>
            <a:ext cx="73152" cy="786384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325112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DB_Customers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645152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Customer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143000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1143000"/>
            <a:ext cx="73152" cy="786384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252728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DB_Products / Sellers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572768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Product &amp; Seller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67128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2167128"/>
            <a:ext cx="73152" cy="786384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2276856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DB_Payments /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96896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Payments &amp; Customer Satisfaction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191256"/>
            <a:ext cx="5257800" cy="786384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191256"/>
            <a:ext cx="73152" cy="786384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00984"/>
            <a:ext cx="4983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DB_Delivery / Geography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21024"/>
            <a:ext cx="4983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Delivery &amp; Geographic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2B42"/>
                </a:solidFill>
                <a:latin typeface="Arial"/>
              </a:rPr>
              <a:t>كل Dashboard يجيب عن سؤال Business محدد، والـSlicers تجعل المؤشرات والرسومات ديناميكية.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11. أهم مشاكل الـBusiness المكتشفة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22860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143000"/>
            <a:ext cx="73152" cy="713232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252728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التأخير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57276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143000"/>
            <a:ext cx="8229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On Time Rate ≈ 91.89% يعني وجود جزء من الطلبات المسلَّمة بعد الموعد المتوقع.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2"/>
            <a:ext cx="22860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084832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194560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التفاوت الزمني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514600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84832"/>
            <a:ext cx="8229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المبيعات تختلف بوضوح بين الشهور والفترات.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26664"/>
            <a:ext cx="22860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26664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136392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التركيز الجغرافي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56432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026664"/>
            <a:ext cx="8229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جزء كبير من النشاط يتركز في ولايات رئيسية.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968496"/>
            <a:ext cx="22860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68496"/>
            <a:ext cx="73152" cy="713232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078224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تجربة العميل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398264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968496"/>
            <a:ext cx="8229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التقييمات السلبية تستحق الربط بالتسليم والبائع والمنتج.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910328"/>
            <a:ext cx="2286000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910328"/>
            <a:ext cx="73152" cy="713232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5020056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جودة البيانات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340096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910328"/>
            <a:ext cx="8229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500" b="0">
                <a:solidFill>
                  <a:srgbClr val="232D37"/>
                </a:solidFill>
                <a:latin typeface="Arial"/>
              </a:rPr>
              <a:t>البيانات الخام احتاجت تنظيفًا قبل أن تصبح صالحة للتحليل.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12. تحليل أسباب المشاكل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التأخير قد يحدث في مراحل مختلفة: تجهيز الطلب، تسليمه للشحن، النقل أو التوصيل للعميل.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لذلك يجب تقسيم Late حسب seller وstate وcity وproduct category والشهر.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يجب التمييز بين مشكلة متكررة لدى بائع محدد ومشكلة مرتبطة بمنطقة أو فترة.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ربط Review Score مع Delivery Days وDays Late يساعد على معرفة أثر تجربة التسليم على العميل.</a:t>
            </a:r>
          </a:p>
          <a:p>
            <a:pPr algn="r">
              <a:spcAft>
                <a:spcPts val="800"/>
              </a:spcAft>
            </a:pPr>
            <a:r>
              <a:rPr sz="1700">
                <a:solidFill>
                  <a:srgbClr val="232D37"/>
                </a:solidFill>
                <a:latin typeface="Arial"/>
              </a:rPr>
              <a:t>• الأحداث الخارجية، مثل اضطرابات النقل، قد تضغط على الأداء اللوجستي في فترات معينة.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600" b="1">
                <a:solidFill>
                  <a:srgbClr val="182B42"/>
                </a:solidFill>
                <a:latin typeface="Arial"/>
              </a:rPr>
              <a:t>13. Recommendations – التوصيات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11" y="0"/>
            <a:ext cx="0" cy="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73152" cy="16002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مراقبة On-Time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66420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متابعة On Time Rate وDays Late حسب البائع والمنطقة.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42900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60020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34416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تحديد السبب الجذري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66420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تحديد المرحلة التي يحدث فيها التأخير.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34440"/>
            <a:ext cx="342900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234440"/>
            <a:ext cx="73152" cy="16002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34416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تحسين البائعين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66420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مقارنة أداء البائعين بالتسليم والتقييمات وحجم الطلبات.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91840"/>
            <a:ext cx="342900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91840"/>
            <a:ext cx="73152" cy="1600200"/>
          </a:xfrm>
          <a:prstGeom prst="rect">
            <a:avLst/>
          </a:prstGeom>
          <a:solidFill>
            <a:srgbClr val="DBA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40156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الاستعداد للفترات الحرجة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372160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رفع الجاهزية اللوجستية عند ارتفاع الطلب.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291840"/>
            <a:ext cx="3429000" cy="1600200"/>
          </a:xfrm>
          <a:prstGeom prst="roundRect">
            <a:avLst/>
          </a:prstGeom>
          <a:solidFill>
            <a:srgbClr val="F4F7F9"/>
          </a:solidFill>
          <a:ln>
            <a:solidFill>
              <a:srgbClr val="E1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34840" y="3291840"/>
            <a:ext cx="73152" cy="1600200"/>
          </a:xfrm>
          <a:prstGeom prst="rect">
            <a:avLst/>
          </a:prstGeom>
          <a:solidFill>
            <a:srgbClr val="147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01568"/>
            <a:ext cx="3154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69737D"/>
                </a:solidFill>
                <a:latin typeface="Arial"/>
              </a:rPr>
              <a:t>ربط تجربة العميل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721608"/>
            <a:ext cx="3154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100" b="1">
                <a:solidFill>
                  <a:srgbClr val="182B42"/>
                </a:solidFill>
                <a:latin typeface="Arial"/>
              </a:rPr>
              <a:t>استخدام Reviews كإشارة عند تدهور تجربة التسليم.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69737D"/>
                </a:solidFill>
                <a:latin typeface="Arial"/>
              </a:rPr>
              <a:t>التوصيات مبنية على مؤشرات المشروع، ويُفضّل اختبار السبب الجذري ببيانات تشغيلية إضافية قبل التنفيذ.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900" b="1">
                <a:solidFill>
                  <a:srgbClr val="FFFFFF"/>
                </a:solidFill>
                <a:latin typeface="Arial"/>
              </a:rPr>
              <a:t>14. الخلاصة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BED7DC"/>
                </a:solidFill>
                <a:latin typeface="Arial"/>
              </a:rPr>
              <a:t>Data Cleaning → Data Model → DAX → Dashboard →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تم تحويل 9 مصادر مترابطة إلى نموذج تحليلي قابل للاستخدام.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تمت معالجة مشكلات البيانات وإضافة مؤشرات خاصة بالتسليم.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المبيعات ارتفعت بين 2017 و2018 مع اختلافات شهرية واضحة.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التسليم ناجح في معظم الطلبات، لكن On-Time Performance مجال مهم للتحسين.</a:t>
            </a:r>
          </a:p>
          <a:p>
            <a:pPr algn="r">
              <a:spcAft>
                <a:spcPts val="800"/>
              </a:spcAft>
            </a:pPr>
            <a:r>
              <a:rPr sz="1800">
                <a:solidFill>
                  <a:srgbClr val="232D37"/>
                </a:solidFill>
                <a:latin typeface="Arial"/>
              </a:rPr>
              <a:t>• الـDashboard يحول الأرقام إلى أسئلة Business يمكن متابعتها واتخاذ قرارات بناءً عليها.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DBA137"/>
                </a:solidFill>
                <a:latin typeface="Arial"/>
              </a:rPr>
              <a:t>شكراً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4739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00" b="0">
                <a:solidFill>
                  <a:srgbClr val="69737D"/>
                </a:solidFill>
                <a:latin typeface="Arial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